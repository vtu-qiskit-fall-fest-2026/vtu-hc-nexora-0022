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  <p:defaultTextStyle>
    <a:defPPr lvl="0"/>
    <a:lvl1pPr marL="0" lv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1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  <a:r>
              <a:rPr sz="1100" b="1">
                <a:solidFill>
                  <a:srgbClr val="2E1B5B"/>
                </a:solidFill>
                <a:latin typeface="Calibri" panose="020F0502020204030204"/>
              </a:rPr>
              <a:t>Exposure covered (7 units)</a:t>
            </a:r>
            <a:endParaRPr sz="1100" b="1">
              <a:solidFill>
                <a:srgbClr val="2E1B5B"/>
              </a:solidFill>
              <a:latin typeface="Calibri" panose="020F050202020403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Exposure covered (7 units)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5B3BA8"/>
              </a:solidFill>
            </c:spPr>
          </c:dPt>
          <c:dPt>
            <c:idx val="1"/>
            <c:invertIfNegative val="0"/>
            <c:bubble3D val="0"/>
            <c:spPr>
              <a:solidFill>
                <a:srgbClr val="E8639F"/>
              </a:solidFill>
            </c:spPr>
          </c:dPt>
          <c:dPt>
            <c:idx val="2"/>
            <c:invertIfNegative val="0"/>
            <c:bubble3D val="0"/>
            <c:spPr>
              <a:solidFill>
                <a:srgbClr val="B8BDEB"/>
              </a:solidFill>
            </c:spPr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2E1B5B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Exact</c:v>
                </c:pt>
                <c:pt idx="1">
                  <c:v>QAOA</c:v>
                </c:pt>
                <c:pt idx="2">
                  <c:v>Greedy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</c:v>
                </c:pt>
                <c:pt idx="1">
                  <c:v>58</c:v>
                </c:pt>
                <c:pt idx="2">
                  <c:v>55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6350" cap="flat" cmpd="sng" algn="ctr">
            <a:solidFill>
              <a:srgbClr val="B8BDEB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f51f498f-21e9-43ae-a8fe-d337f1671cd3}"/>
      </c:ext>
    </c:extLst>
  </c:chart>
  <c:txPr>
    <a:bodyPr/>
    <a:lstStyle/>
    <a:p>
      <a:pPr>
        <a:defRPr lang="en-US" sz="1000">
          <a:solidFill>
            <a:srgbClr val="2E1B5B"/>
          </a:solidFill>
          <a:latin typeface="Calibri" panose="020F0502020204030204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200" b="1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  <a:r>
              <a:rPr sz="1100" b="1">
                <a:solidFill>
                  <a:srgbClr val="2E1B5B"/>
                </a:solidFill>
                <a:latin typeface="Calibri" panose="020F0502020204030204"/>
              </a:rPr>
              <a:t>Optimum found per shot</a:t>
            </a:r>
            <a:endParaRPr sz="1100" b="1">
              <a:solidFill>
                <a:srgbClr val="2E1B5B"/>
              </a:solidFill>
              <a:latin typeface="Calibri" panose="020F0502020204030204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Optimum found per shot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B8BDEB"/>
              </a:solidFill>
            </c:spPr>
          </c:dPt>
          <c:dPt>
            <c:idx val="1"/>
            <c:invertIfNegative val="0"/>
            <c:bubble3D val="0"/>
            <c:spPr>
              <a:solidFill>
                <a:srgbClr val="E8639F"/>
              </a:solidFill>
            </c:spPr>
          </c:dPt>
          <c:dLbls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000" b="0" i="0" u="none" strike="noStrike" kern="1200" baseline="0">
                    <a:solidFill>
                      <a:srgbClr val="2E1B5B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Random</c:v>
                </c:pt>
                <c:pt idx="1">
                  <c:v>QAOA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0.016</c:v>
                </c:pt>
                <c:pt idx="1">
                  <c:v>0.049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6350" cap="flat" cmpd="sng" algn="ctr">
            <a:solidFill>
              <a:srgbClr val="B8BDEB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0.06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rgbClr val="2E1B5B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c4fc143a-39b1-4b2f-9f26-655889f9ac2e}"/>
      </c:ext>
    </c:extLst>
  </c:chart>
  <c:txPr>
    <a:bodyPr/>
    <a:lstStyle/>
    <a:p>
      <a:pPr>
        <a:defRPr lang="en-US" sz="1000">
          <a:solidFill>
            <a:srgbClr val="2E1B5B"/>
          </a:solidFill>
          <a:latin typeface="Calibri" panose="020F0502020204030204"/>
        </a:defRPr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A1F8C-B10B-C84D-94FC-B3DA01C1C20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902761-92A6-8544-9B98-D45CEE3CC88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7" Type="http://schemas.openxmlformats.org/officeDocument/2006/relationships/image" Target="../media/image6.png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anose="020B0502040204020203" pitchFamily="34" charset="0"/>
                <a:ea typeface="Nirmala UI" panose="020B0502040204020203" pitchFamily="34" charset="-122"/>
                <a:cs typeface="Nirmala UI" panose="020B0502040204020203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DDE2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3054096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54096" y="658368"/>
            <a:ext cx="3054096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99048" y="658368"/>
            <a:ext cx="3054096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pic>
        <p:nvPicPr>
          <p:cNvPr id="6" name="Image 0" descr="vtu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Nirmala UI" panose="020B0502040204020203" pitchFamily="34" charset="0"/>
                <a:ea typeface="Nirmala UI" panose="020B0502040204020203" pitchFamily="34" charset="-122"/>
                <a:cs typeface="Nirmala UI" panose="020B0502040204020203" pitchFamily="34" charset="-120"/>
              </a:rPr>
              <a:t>ವಿಶ್ವೇಶ್ವರಯ್ಯ ತಾಂತ್ರಿಕ ವಿಶ್ವವಿದ್ಯಾಲಯ, ಬೆಳಗಾವಿ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32688" y="338328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Visvesvaraya Technological University, Belagavi</a:t>
            </a:r>
            <a:endParaRPr lang="en-US" sz="950" dirty="0"/>
          </a:p>
        </p:txBody>
      </p:sp>
      <p:pic>
        <p:nvPicPr>
          <p:cNvPr id="9" name="Image 1" descr="quc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104" y="91440"/>
            <a:ext cx="61264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109728"/>
            <a:ext cx="27889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200" dirty="0">
                <a:solidFill>
                  <a:srgbClr val="2E1B5B"/>
                </a:solidFill>
              </a:rPr>
              <a:t>QISKIT FALL FEST 2026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365760"/>
            <a:ext cx="2788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kern="0" spc="100" dirty="0">
                <a:solidFill>
                  <a:srgbClr val="5B3BA8"/>
                </a:solidFill>
              </a:rPr>
              <a:t>IBM Quantum</a:t>
            </a:r>
            <a:endParaRPr lang="en-US" sz="950" dirty="0"/>
          </a:p>
        </p:txBody>
      </p:sp>
      <p:pic>
        <p:nvPicPr>
          <p:cNvPr id="12" name="Image 2" descr="badge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91440"/>
            <a:ext cx="475488" cy="475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CBD1F5"/>
          </a:solidFill>
          <a:ln w="12700">
            <a:solidFill>
              <a:srgbClr val="CBD1F5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0" y="4828032"/>
            <a:ext cx="3054096" cy="36576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054096" y="4828032"/>
            <a:ext cx="3054096" cy="36576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099048" y="4828032"/>
            <a:ext cx="3054096" cy="36576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57200" y="48646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2E1B5B"/>
                </a:solidFill>
              </a:rPr>
              <a:t>QISKIT FALL FEST 2026  ·  HOSTED BY VTU, BELAGAVI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5943600" y="486460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200" dirty="0">
                <a:solidFill>
                  <a:srgbClr val="5B3BA8"/>
                </a:solidFill>
              </a:rPr>
              <a:t>27 – 31 OCT 2026</a:t>
            </a:r>
            <a:endParaRPr lang="en-US" sz="850" dirty="0"/>
          </a:p>
        </p:txBody>
      </p:sp>
      <p:pic>
        <p:nvPicPr>
          <p:cNvPr id="19" name="Image 3" descr="sphe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822960"/>
            <a:ext cx="777240" cy="777240"/>
          </a:xfrm>
          <a:prstGeom prst="rect">
            <a:avLst/>
          </a:prstGeom>
        </p:spPr>
      </p:pic>
      <p:pic>
        <p:nvPicPr>
          <p:cNvPr id="20" name="Image 4" descr="bir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868680"/>
            <a:ext cx="548640" cy="329184"/>
          </a:xfrm>
          <a:prstGeom prst="rect">
            <a:avLst/>
          </a:prstGeom>
        </p:spPr>
      </p:pic>
      <p:pic>
        <p:nvPicPr>
          <p:cNvPr id="21" name="Image 5" descr="bir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1261872"/>
            <a:ext cx="384048" cy="228600"/>
          </a:xfrm>
          <a:prstGeom prst="rect">
            <a:avLst/>
          </a:prstGeom>
        </p:spPr>
      </p:pic>
      <p:sp>
        <p:nvSpPr>
          <p:cNvPr id="2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rtlCol="0"/>
          <a:lstStyle>
            <a:lvl1pPr marL="0" indent="0" algn="l">
              <a:buNone/>
              <a:def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defRPr>
            </a:lvl1pPr>
          </a:lstStyle>
          <a:p>
            <a:pPr marL="0" indent="0" algn="l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PARTICIPANT PRESENTATION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691640" y="2715260"/>
            <a:ext cx="33832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2026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A43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Hackathon · Team Details</a:t>
            </a:r>
            <a:endParaRPr lang="en-US" sz="1300" dirty="0"/>
          </a:p>
        </p:txBody>
      </p:sp>
      <p:pic>
        <p:nvPicPr>
          <p:cNvPr id="5" name="Bloch sphere ring" descr="sphe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0"/>
            <a:ext cx="1371600" cy="1371600"/>
          </a:xfrm>
          <a:prstGeom prst="rect">
            <a:avLst/>
          </a:prstGeom>
        </p:spPr>
      </p:pic>
      <p:pic>
        <p:nvPicPr>
          <p:cNvPr id="6" name="Image 1" descr="bi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3429000"/>
            <a:ext cx="731520" cy="438912"/>
          </a:xfrm>
          <a:prstGeom prst="rect">
            <a:avLst/>
          </a:prstGeom>
        </p:spPr>
      </p:pic>
      <p:pic>
        <p:nvPicPr>
          <p:cNvPr id="7" name="Image 2" descr="bi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3977640"/>
            <a:ext cx="502920" cy="301752"/>
          </a:xfrm>
          <a:prstGeom prst="rect">
            <a:avLst/>
          </a:prstGeom>
        </p:spPr>
      </p:pic>
      <p:pic>
        <p:nvPicPr>
          <p:cNvPr id="8" name="Image 3" descr="bi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4297680"/>
            <a:ext cx="384048" cy="2286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4023360" y="841248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Participant Details</a:t>
            </a:r>
            <a:endParaRPr lang="en-US" sz="1600" dirty="0"/>
          </a:p>
        </p:txBody>
      </p:sp>
      <p:sp>
        <p:nvSpPr>
          <p:cNvPr id="10" name="Field: PROJECT TITLE"/>
          <p:cNvSpPr/>
          <p:nvPr/>
        </p:nvSpPr>
        <p:spPr>
          <a:xfrm>
            <a:off x="4023360" y="1261872"/>
            <a:ext cx="466344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TITLE</a:t>
            </a:r>
            <a:endParaRPr lang="en-US" sz="900" dirty="0"/>
          </a:p>
          <a:p>
            <a:pPr marL="0" indent="0" algn="l">
              <a:buNone/>
            </a:pPr>
            <a:r>
              <a:rPr lang="en-US" sz="13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HEATSHIELD-Q: Quantum Allocation of Campus Cooling Resources</a:t>
            </a:r>
            <a:endParaRPr lang="en-US" sz="900" dirty="0"/>
          </a:p>
        </p:txBody>
      </p:sp>
      <p:sp>
        <p:nvSpPr>
          <p:cNvPr id="11" name="Field: TRACK"/>
          <p:cNvSpPr/>
          <p:nvPr/>
        </p:nvSpPr>
        <p:spPr>
          <a:xfrm>
            <a:off x="402336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TRACK</a:t>
            </a:r>
            <a:endParaRPr lang="en-US" sz="900" dirty="0"/>
          </a:p>
          <a:p>
            <a:pPr marL="0" indent="0" algn="l">
              <a:buNone/>
            </a:pPr>
            <a:r>
              <a:rPr lang="en-US" sz="11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Track 6: Climate &amp; Sustainability</a:t>
            </a:r>
            <a:endParaRPr lang="en-US" sz="900" dirty="0"/>
          </a:p>
        </p:txBody>
      </p:sp>
      <p:sp>
        <p:nvSpPr>
          <p:cNvPr id="12" name="Field: TEAM NAME"/>
          <p:cNvSpPr/>
          <p:nvPr/>
        </p:nvSpPr>
        <p:spPr>
          <a:xfrm>
            <a:off x="6400800" y="18653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NAME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NEXORA</a:t>
            </a:r>
            <a:endParaRPr lang="en-US" sz="900" dirty="0"/>
          </a:p>
        </p:txBody>
      </p:sp>
      <p:sp>
        <p:nvSpPr>
          <p:cNvPr id="13" name="Field: TEAM LEADER"/>
          <p:cNvSpPr/>
          <p:nvPr/>
        </p:nvSpPr>
        <p:spPr>
          <a:xfrm>
            <a:off x="4023360" y="246888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LEADER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Niranjan Mathapati</a:t>
            </a:r>
            <a:endParaRPr lang="en-US" sz="900" dirty="0"/>
          </a:p>
        </p:txBody>
      </p:sp>
      <p:sp>
        <p:nvSpPr>
          <p:cNvPr id="14" name="Field: EMAIL / CONTACT"/>
          <p:cNvSpPr/>
          <p:nvPr/>
        </p:nvSpPr>
        <p:spPr>
          <a:xfrm>
            <a:off x="6400800" y="2427605"/>
            <a:ext cx="2286000" cy="61214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EMAIL / CONTACT</a:t>
            </a:r>
            <a:endParaRPr lang="en-US" sz="900" dirty="0"/>
          </a:p>
          <a:p>
            <a:pPr marL="0" indent="0" algn="l">
              <a:buNone/>
            </a:pPr>
            <a:r>
              <a:rPr lang="en-US" sz="11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niranjanrm18@gmail.com/ 7204579919</a:t>
            </a:r>
            <a:endParaRPr lang="en-US" sz="900" dirty="0"/>
          </a:p>
        </p:txBody>
      </p:sp>
      <p:sp>
        <p:nvSpPr>
          <p:cNvPr id="15" name="Field: TEAM MEMBERS"/>
          <p:cNvSpPr/>
          <p:nvPr/>
        </p:nvSpPr>
        <p:spPr>
          <a:xfrm>
            <a:off x="4023360" y="3072384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MEMBERS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Niranjan Mathapati (Lead)  ·  Iqra Sanadi  ·  Manyata Tegnale</a:t>
            </a:r>
            <a:endParaRPr lang="en-US" sz="900" dirty="0"/>
          </a:p>
        </p:txBody>
      </p:sp>
      <p:sp>
        <p:nvSpPr>
          <p:cNvPr id="16" name="Field: INSTITUTION / ORGANISATION"/>
          <p:cNvSpPr/>
          <p:nvPr/>
        </p:nvSpPr>
        <p:spPr>
          <a:xfrm>
            <a:off x="402336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INSTITUTION / ORGANISATION</a:t>
            </a:r>
            <a:endParaRPr lang="en-US" sz="900" dirty="0"/>
          </a:p>
          <a:p>
            <a:pPr marL="0" indent="0" algn="l">
              <a:buNone/>
            </a:pPr>
            <a:r>
              <a:rPr lang="en-US" sz="11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college name</a:t>
            </a:r>
            <a:endParaRPr lang="en-US" sz="900" dirty="0"/>
          </a:p>
        </p:txBody>
      </p:sp>
      <p:sp>
        <p:nvSpPr>
          <p:cNvPr id="17" name="Field: COUNTRY"/>
          <p:cNvSpPr/>
          <p:nvPr/>
        </p:nvSpPr>
        <p:spPr>
          <a:xfrm>
            <a:off x="6400800" y="3922776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COUNTRY</a:t>
            </a:r>
            <a:endParaRPr lang="en-US" sz="900" dirty="0"/>
          </a:p>
          <a:p>
            <a:pPr marL="0" indent="0" algn="l">
              <a:buNone/>
            </a:pPr>
            <a:r>
              <a:rPr lang="en-US" sz="1200" i="0" dirty="0">
                <a:solidFill>
                  <a:srgbClr val="2E1B5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India</a:t>
            </a:r>
            <a:endParaRPr lang="en-US" sz="900" dirty="0"/>
          </a:p>
        </p:txBody>
      </p:sp>
      <p:sp>
        <p:nvSpPr>
          <p:cNvPr id="18" name="Text 1"/>
          <p:cNvSpPr txBox="1"/>
          <p:nvPr/>
        </p:nvSpPr>
        <p:spPr>
          <a:xfrm>
            <a:off x="4427855" y="5087620"/>
            <a:ext cx="338328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Qiskit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E8639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Fall Fest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2026</a:t>
            </a:r>
            <a:endParaRPr lang="en-US" sz="3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731520" y="1874519"/>
            <a:ext cx="45720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The challenge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Climate change is increasing the risk of extreme heat events on campuses.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Heat-relief resources (cooling units, shaded or air-conditioned spaces) are limited, so not every zone can be protected.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8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Zones differ in population, heat-risk level and the resources they need, so the best allocation is not obvious.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Our aim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HEATSHIELD-Q: a Qiskit-based quantum optimization system that allocates limited cooling resources across campus zones.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It uses QAOA to search for allocations and compares them with classical optimization.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623560" y="1920240"/>
            <a:ext cx="2834640" cy="7772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01168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B3BA8"/>
                </a:solidFill>
                <a:latin typeface="Calibri" panose="020F0502020204030204"/>
              </a:rPr>
              <a:t>INPUTS</a:t>
            </a:r>
            <a:endParaRPr sz="900" b="1">
              <a:solidFill>
                <a:srgbClr val="5B3BA8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Population, heat-risk level and cooling units needed per zone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623560" y="2788920"/>
            <a:ext cx="2834640" cy="7772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0" y="288036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E8639F"/>
                </a:solidFill>
                <a:latin typeface="Calibri" panose="020F0502020204030204"/>
              </a:rPr>
              <a:t>CONSTRAINT</a:t>
            </a:r>
            <a:endParaRPr sz="900" b="1">
              <a:solidFill>
                <a:srgbClr val="E8639F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A fixed budget of cooling units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623560" y="3657600"/>
            <a:ext cx="2834640" cy="7772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0" y="3749039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2E1B5B"/>
                </a:solidFill>
                <a:latin typeface="Calibri" panose="020F0502020204030204"/>
              </a:rPr>
              <a:t>GOAL</a:t>
            </a:r>
            <a:endParaRPr sz="900" b="1">
              <a:solidFill>
                <a:srgbClr val="2E1B5B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Maximise heat-risk exposure covered (population × risk)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Objectives &amp; Novelty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92024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2029968"/>
            <a:ext cx="33375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Objectives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Model campus cooling allocation as a binary optimization problem, one qubit per zone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Build a QAOA solver in Qiskit that finds high-quality allocations under a unit budget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Benchmark QAOA against exact search and a greedy method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Test how results change from 4 to 12 zones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617720" y="192024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2029968"/>
            <a:ext cx="33375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39F"/>
                </a:solidFill>
                <a:latin typeface="Calibri" panose="020F0502020204030204"/>
              </a:rPr>
              <a:t>Novelty</a:t>
            </a:r>
            <a:endParaRPr sz="1300" b="1">
              <a:solidFill>
                <a:srgbClr val="E8639F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Applies QAOA to campus heat-risk planning, a sustainability problem rarely tackled with quantum methods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Budget handled by an unbalanced penalty term, so no extra slack qubits are needed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Penalty weights are tuned automatically so the lowest-energy state is the true best allocation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Honest benchmarking: we report where QAOA helps and where it does not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Solution &amp; Quantum Advantage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Pentagon 25"/>
          <p:cNvSpPr/>
          <p:nvPr/>
        </p:nvSpPr>
        <p:spPr>
          <a:xfrm>
            <a:off x="685800" y="1920240"/>
            <a:ext cx="1554480" cy="658368"/>
          </a:xfrm>
          <a:prstGeom prst="homePlate">
            <a:avLst>
              <a:gd name="adj" fmla="val 25000"/>
            </a:avLst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13716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 panose="020F0502020204030204"/>
              </a:rPr>
              <a:t>Campus zones</a:t>
            </a:r>
            <a:endParaRPr sz="1000" b="1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000" b="0">
                <a:solidFill>
                  <a:srgbClr val="FFFFFF"/>
                </a:solidFill>
                <a:latin typeface="Calibri" panose="020F0502020204030204"/>
              </a:rPr>
              <a:t>(population, risk, units)</a:t>
            </a:r>
            <a:endParaRPr sz="10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Chevron 26"/>
          <p:cNvSpPr/>
          <p:nvPr/>
        </p:nvSpPr>
        <p:spPr>
          <a:xfrm>
            <a:off x="2258568" y="1920240"/>
            <a:ext cx="1554480" cy="658368"/>
          </a:xfrm>
          <a:prstGeom prst="chevron">
            <a:avLst>
              <a:gd name="adj" fmla="val 25000"/>
            </a:avLst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0" rIns="13716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 panose="020F0502020204030204"/>
              </a:rPr>
              <a:t>QUBO with</a:t>
            </a:r>
            <a:endParaRPr sz="1000" b="1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000" b="0">
                <a:solidFill>
                  <a:srgbClr val="FFFFFF"/>
                </a:solidFill>
                <a:latin typeface="Calibri" panose="020F0502020204030204"/>
              </a:rPr>
              <a:t>budget penalty</a:t>
            </a:r>
            <a:endParaRPr sz="10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Chevron 27"/>
          <p:cNvSpPr/>
          <p:nvPr/>
        </p:nvSpPr>
        <p:spPr>
          <a:xfrm>
            <a:off x="3831335" y="1920240"/>
            <a:ext cx="1554480" cy="658368"/>
          </a:xfrm>
          <a:prstGeom prst="chevron">
            <a:avLst>
              <a:gd name="adj" fmla="val 25000"/>
            </a:avLst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0" rIns="13716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 panose="020F0502020204030204"/>
              </a:rPr>
              <a:t>Ising Hamiltonian</a:t>
            </a:r>
            <a:endParaRPr sz="1000" b="1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000" b="0">
                <a:solidFill>
                  <a:srgbClr val="FFFFFF"/>
                </a:solidFill>
                <a:latin typeface="Calibri" panose="020F0502020204030204"/>
              </a:rPr>
              <a:t>(6 qubits)</a:t>
            </a:r>
            <a:endParaRPr sz="10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9" name="Chevron 28"/>
          <p:cNvSpPr/>
          <p:nvPr/>
        </p:nvSpPr>
        <p:spPr>
          <a:xfrm>
            <a:off x="5404104" y="1920240"/>
            <a:ext cx="1554480" cy="658368"/>
          </a:xfrm>
          <a:prstGeom prst="chevron">
            <a:avLst>
              <a:gd name="adj" fmla="val 25000"/>
            </a:avLst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0" rIns="13716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 panose="020F0502020204030204"/>
              </a:rPr>
              <a:t>QAOA circuit</a:t>
            </a:r>
            <a:endParaRPr sz="1000" b="1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000" b="0">
                <a:solidFill>
                  <a:srgbClr val="FFFFFF"/>
                </a:solidFill>
                <a:latin typeface="Calibri" panose="020F0502020204030204"/>
              </a:rPr>
              <a:t>(Qiskit)</a:t>
            </a:r>
            <a:endParaRPr sz="10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0" name="Chevron 29"/>
          <p:cNvSpPr/>
          <p:nvPr/>
        </p:nvSpPr>
        <p:spPr>
          <a:xfrm>
            <a:off x="6976872" y="1920240"/>
            <a:ext cx="1554480" cy="658368"/>
          </a:xfrm>
          <a:prstGeom prst="chevron">
            <a:avLst>
              <a:gd name="adj" fmla="val 25000"/>
            </a:avLst>
          </a:prstGeom>
          <a:solidFill>
            <a:srgbClr val="2E1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0" rIns="13716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 panose="020F0502020204030204"/>
              </a:rPr>
              <a:t>Best allocation</a:t>
            </a:r>
            <a:endParaRPr sz="1000" b="1">
              <a:solidFill>
                <a:srgbClr val="FFFFFF"/>
              </a:solidFill>
              <a:latin typeface="Calibri" panose="020F0502020204030204"/>
            </a:endParaRPr>
          </a:p>
          <a:p>
            <a:pPr algn="ctr"/>
            <a:r>
              <a:rPr sz="1000" b="0">
                <a:solidFill>
                  <a:srgbClr val="FFFFFF"/>
                </a:solidFill>
                <a:latin typeface="Calibri" panose="020F0502020204030204"/>
              </a:rPr>
              <a:t>(top measured)</a:t>
            </a:r>
            <a:endParaRPr sz="10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85800" y="2788920"/>
            <a:ext cx="3749039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How it works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Each qubit says whether a zone is funded (1) or not (0).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The cost rewards covered exposure and penalises going over the unit budget.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QAOA samples candidate allocations; the best-measured one is the answer.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663440" y="2788920"/>
            <a:ext cx="3794760" cy="173736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2880360"/>
            <a:ext cx="34290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39F"/>
                </a:solidFill>
                <a:latin typeface="Calibri" panose="020F0502020204030204"/>
              </a:rPr>
              <a:t>Quantum advantage: our honest view</a:t>
            </a:r>
            <a:endParaRPr sz="1300" b="1">
              <a:solidFill>
                <a:srgbClr val="E8639F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At 6 to 12 zones, brute force is instant, so we claim no speed-up.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QAOA finds the optimum more often than random guessing (up to 3.5× per shot).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The method is a full pipeline that can be scaled to larger campuses and real hardware.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Algorithm &amp; Circuit Design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pic>
        <p:nvPicPr>
          <p:cNvPr id="26" name="QAOA circuit diagram" descr="cir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915" y="1792224"/>
            <a:ext cx="4040330" cy="23774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40080" y="429768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1">
                <a:solidFill>
                  <a:srgbClr val="6F7399"/>
                </a:solidFill>
                <a:latin typeface="Calibri" panose="020F0502020204030204"/>
              </a:rPr>
              <a:t>Schematic: RZZ acts on every zone pair that has a cost term; shown for 4 of 6 qubits</a:t>
            </a:r>
            <a:endParaRPr sz="900" b="0" i="1">
              <a:solidFill>
                <a:srgbClr val="6F7399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760720" y="1874519"/>
            <a:ext cx="27432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Key details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Qubits: 6 (one per zone)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Start: Hadamard layer gives an equal superposition of all allocations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Cost layer: RZ and RZZ gates from the Ising Hamiltonian (QUBO + unbalanced budget penalty)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Mixer: RX rotations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3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Parameters γ and β are tuned by a classical optimizer; depth p layers (1 to 4 explored)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Measured with shots; the best-seen allocation is returned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Implementation &amp; Tech Stack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92024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3816" y="2039112"/>
            <a:ext cx="274320" cy="274320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1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188720" y="20574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Qiskit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2104" y="242316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QAOA circuit, simulation and sampling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319272" y="192024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47288" y="2039112"/>
            <a:ext cx="274320" cy="274320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2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822191" y="20574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heatshield/ package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465576" y="242316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Data, problem, classical baselines, Hamiltonian and QAOA modules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52744" y="192024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80759" y="2039112"/>
            <a:ext cx="274320" cy="274320"/>
          </a:xfrm>
          <a:prstGeom prst="ellipse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3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55664" y="20574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Streamlit app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99048" y="2423160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Interactive demo; every number comes from Qiskit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685800" y="324612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3816" y="3364991"/>
            <a:ext cx="274320" cy="274320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4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88720" y="338327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run_hardware.py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32104" y="3749039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Noisy IBM-chip simulator run; ready for real IBM hardware with an API key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319272" y="324612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447288" y="3364991"/>
            <a:ext cx="274320" cy="274320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5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822191" y="338327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run_scaling.py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465576" y="3749039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Scaling study from 4 to 12 zones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952744" y="3246120"/>
            <a:ext cx="2505456" cy="1207008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80759" y="3364991"/>
            <a:ext cx="274320" cy="274320"/>
          </a:xfrm>
          <a:prstGeom prst="ellipse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6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79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1B5B"/>
                </a:solidFill>
                <a:latin typeface="Calibri" panose="020F0502020204030204"/>
              </a:rPr>
              <a:t>Tests + web view</a:t>
            </a:r>
            <a:endParaRPr sz="12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099048" y="3749039"/>
            <a:ext cx="224028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2E1B5B"/>
                </a:solidFill>
                <a:latin typeface="Calibri" panose="020F0502020204030204"/>
              </a:rPr>
              <a:t>5 unit tests (pass); browser visualisation in web/</a:t>
            </a:r>
            <a:endParaRPr sz="11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 &amp; Analysis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Insert area"/>
          <p:cNvSpPr/>
          <p:nvPr/>
        </p:nvSpPr>
        <p:spPr>
          <a:xfrm>
            <a:off x="457200" y="169164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EEF0FE"/>
          </a:solidFill>
          <a:ln w="15875">
            <a:solidFill>
              <a:srgbClr val="7C93F0"/>
            </a:solidFill>
            <a:prstDash val="dash"/>
          </a:ln>
        </p:spPr>
      </p:sp>
      <p:sp>
        <p:nvSpPr>
          <p:cNvPr id="8" name="Content card"/>
          <p:cNvSpPr/>
          <p:nvPr/>
        </p:nvSpPr>
        <p:spPr>
          <a:xfrm>
            <a:off x="5577840" y="16916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9" name="Card accent"/>
          <p:cNvSpPr/>
          <p:nvPr/>
        </p:nvSpPr>
        <p:spPr>
          <a:xfrm>
            <a:off x="5806440" y="1691640"/>
            <a:ext cx="822960" cy="54864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graphicFrame>
        <p:nvGraphicFramePr>
          <p:cNvPr id="26" name="Chart: exposure covered"/>
          <p:cNvGraphicFramePr>
            <a:graphicFrameLocks noGrp="1"/>
          </p:cNvGraphicFramePr>
          <p:nvPr/>
        </p:nvGraphicFramePr>
        <p:xfrm>
          <a:off x="548640" y="1783080"/>
          <a:ext cx="24688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27" name="Chart: per-shot success"/>
          <p:cNvGraphicFramePr>
            <a:graphicFrameLocks noGrp="1"/>
          </p:cNvGraphicFramePr>
          <p:nvPr/>
        </p:nvGraphicFramePr>
        <p:xfrm>
          <a:off x="3017520" y="1783080"/>
          <a:ext cx="237744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760720" y="1874519"/>
            <a:ext cx="274320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Key details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QAOA matches the exact optimum (58.0) and beats greedy (55.0) on the sample campus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Optimum measured in 4.9% of shots vs 1.6% for random guessing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1,024 shots are enough to find it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4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Scaling, 4 to 12 zones: 1.3 to 3.5× better than random; greedy stays within 2% of optimal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Noisy IBM-chip simulation also run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Impact &amp; Real-World Applications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920240"/>
            <a:ext cx="2505456" cy="182880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2104" y="2057400"/>
            <a:ext cx="310896" cy="310896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1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52728" y="205740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1B5B"/>
                </a:solidFill>
                <a:latin typeface="Calibri" panose="020F0502020204030204"/>
              </a:rPr>
              <a:t>Safer campuses</a:t>
            </a:r>
            <a:endParaRPr sz="13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50392" y="25146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Directs scarce cooling resources to the zones where people and heat risk are highest.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3319272" y="1920240"/>
            <a:ext cx="2505456" cy="182880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465576" y="2057400"/>
            <a:ext cx="310896" cy="310896"/>
          </a:xfrm>
          <a:prstGeom prst="ellipse">
            <a:avLst/>
          </a:prstGeom>
          <a:solidFill>
            <a:srgbClr val="E86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2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886200" y="205740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1B5B"/>
                </a:solidFill>
                <a:latin typeface="Calibri" panose="020F0502020204030204"/>
              </a:rPr>
              <a:t>Better planning</a:t>
            </a:r>
            <a:endParaRPr sz="13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483864" y="25146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Gives administrators a repeatable, data-driven way to compare allocation options before a heatwave.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52744" y="1920240"/>
            <a:ext cx="2505456" cy="182880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99048" y="2057400"/>
            <a:ext cx="310896" cy="310896"/>
          </a:xfrm>
          <a:prstGeom prst="ellipse">
            <a:avLst/>
          </a:prstGeom>
          <a:solidFill>
            <a:srgbClr val="5B3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 panose="020F0502020204030204"/>
              </a:rPr>
              <a:t>3</a:t>
            </a:r>
            <a:endParaRPr sz="12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519672" y="205740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1B5B"/>
                </a:solidFill>
                <a:latin typeface="Calibri" panose="020F0502020204030204"/>
              </a:rPr>
              <a:t>Climate resilience</a:t>
            </a:r>
            <a:endParaRPr sz="1300" b="1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117336" y="2514600"/>
            <a:ext cx="21945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Supports sustainability goals by using limited resources more effectively as heat events increase.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85800" y="39319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B3BA8"/>
                </a:solidFill>
                <a:latin typeface="Calibri" panose="020F0502020204030204"/>
              </a:rPr>
              <a:t>Where it applies: </a:t>
            </a: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university campuses, schools, hospitals and city wards with limited heat-relief resources. The same model extends to any "fund the highest-impact zones within a budget" problem.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4"/>
          <p:cNvSpPr>
            <a:spLocks noGrp="1"/>
          </p:cNvSpPr>
          <p:nvPr>
            <p:ph type="title" idx="120" hasCustomPrompt="1"/>
          </p:nvPr>
        </p:nvSpPr>
        <p:spPr>
          <a:xfrm>
            <a:off x="457200" y="841248"/>
            <a:ext cx="63093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Challenges &amp; Future Scope</a:t>
            </a:r>
            <a:endParaRPr lang="en-US" sz="2600" dirty="0"/>
          </a:p>
        </p:txBody>
      </p:sp>
      <p:sp>
        <p:nvSpPr>
          <p:cNvPr id="3" name="Title accent"/>
          <p:cNvSpPr/>
          <p:nvPr/>
        </p:nvSpPr>
        <p:spPr>
          <a:xfrm>
            <a:off x="457200" y="1463040"/>
            <a:ext cx="256032" cy="45720"/>
          </a:xfrm>
          <a:prstGeom prst="rect">
            <a:avLst/>
          </a:prstGeom>
          <a:solidFill>
            <a:srgbClr val="7C93F0"/>
          </a:solidFill>
          <a:ln w="12700">
            <a:solidFill>
              <a:srgbClr val="7C93F0"/>
            </a:solidFill>
            <a:prstDash val="solid"/>
          </a:ln>
        </p:spPr>
      </p:sp>
      <p:sp>
        <p:nvSpPr>
          <p:cNvPr id="4" name="Title accent"/>
          <p:cNvSpPr/>
          <p:nvPr/>
        </p:nvSpPr>
        <p:spPr>
          <a:xfrm>
            <a:off x="731520" y="1463040"/>
            <a:ext cx="256032" cy="45720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5" name="Title accent"/>
          <p:cNvSpPr/>
          <p:nvPr/>
        </p:nvSpPr>
        <p:spPr>
          <a:xfrm>
            <a:off x="1005840" y="1463040"/>
            <a:ext cx="256032" cy="45720"/>
          </a:xfrm>
          <a:prstGeom prst="rect">
            <a:avLst/>
          </a:prstGeom>
          <a:solidFill>
            <a:srgbClr val="5B3BA8"/>
          </a:solidFill>
          <a:ln w="12700">
            <a:solidFill>
              <a:srgbClr val="5B3BA8"/>
            </a:solidFill>
            <a:prstDash val="solid"/>
          </a:ln>
        </p:spPr>
      </p:sp>
      <p:sp>
        <p:nvSpPr>
          <p:cNvPr id="6" name="Content card"/>
          <p:cNvSpPr/>
          <p:nvPr/>
        </p:nvSpPr>
        <p:spPr>
          <a:xfrm>
            <a:off x="457200" y="1691640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B8BDEB"/>
            </a:solidFill>
            <a:prstDash val="solid"/>
          </a:ln>
        </p:spPr>
      </p:sp>
      <p:sp>
        <p:nvSpPr>
          <p:cNvPr id="7" name="Card accent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E8639F"/>
          </a:solidFill>
          <a:ln w="12700">
            <a:solidFill>
              <a:srgbClr val="E8639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64608"/>
            <a:ext cx="365760" cy="274320"/>
          </a:xfrm>
          <a:prstGeom prst="rect">
            <a:avLst/>
          </a:prstGeom>
        </p:spPr>
        <p:txBody>
          <a:bodyPr anchor="ctr"/>
          <a:lstStyle>
            <a:lvl1pPr>
              <a:defRPr sz="900">
                <a:solidFill>
                  <a:srgbClr val="2E1B5B"/>
                </a:solidFill>
              </a:defRPr>
            </a:lvl1pPr>
          </a:lstStyle>
          <a:p>
            <a:pPr algn="r"/>
            <a:fld id="{F7021451-1387-4CA6-816F-3879F97B5CBC}" type="slidenum">
              <a:rPr lang="en-US" b="1"/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685800" y="192024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2029968"/>
            <a:ext cx="33375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E8639F"/>
                </a:solidFill>
                <a:latin typeface="Calibri" panose="020F0502020204030204"/>
              </a:rPr>
              <a:t>Challenges</a:t>
            </a:r>
            <a:endParaRPr sz="1300" b="1">
              <a:solidFill>
                <a:srgbClr val="E8639F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Early QAOA runs found the optimum only about 1% of the time; tuning the penalty weights fixed this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No quantum speed-up at 6 to 12 zones, because classical search is instant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Results come from noise-free simulation; hardware noise will reduce quality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Sample zone data is illustrative, not measured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4617720" y="192024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0F1FF"/>
          </a:solidFill>
          <a:ln w="9525">
            <a:solidFill>
              <a:srgbClr val="B8BD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0600" y="2029968"/>
            <a:ext cx="333756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3BA8"/>
                </a:solidFill>
                <a:latin typeface="Calibri" panose="020F0502020204030204"/>
              </a:rPr>
              <a:t>Future scope</a:t>
            </a:r>
            <a:endParaRPr sz="1300" b="1">
              <a:solidFill>
                <a:srgbClr val="5B3BA8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Run on real IBM Quantum hardware and apply error mitigation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Use real campus data: zone populations, shade and temperature readings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Scale to larger zone counts and compare more classical solvers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  <a:p>
            <a:pPr marL="171450" indent="-171450" algn="l">
              <a:spcAft>
                <a:spcPts val="500"/>
              </a:spcAft>
              <a:buClr>
                <a:srgbClr val="E8639F"/>
              </a:buClr>
              <a:buChar char="•"/>
            </a:pPr>
            <a:r>
              <a:rPr sz="1200" b="0">
                <a:solidFill>
                  <a:srgbClr val="2E1B5B"/>
                </a:solidFill>
                <a:latin typeface="Calibri" panose="020F0502020204030204"/>
              </a:rPr>
              <a:t>Add time-varying heat forecasts and multiple resource types</a:t>
            </a:r>
            <a:endParaRPr sz="1200" b="0">
              <a:solidFill>
                <a:srgbClr val="2E1B5B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E8639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CLOSING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75488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2E1B5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Thank You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E8639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Questions?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F739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Inspiring Minds. Shaping Tomorrow.</a:t>
            </a:r>
            <a:endParaRPr lang="en-US" sz="1300" dirty="0"/>
          </a:p>
        </p:txBody>
      </p:sp>
      <p:sp>
        <p:nvSpPr>
          <p:cNvPr id="5" name="Field: GITHUB REPOSITORY"/>
          <p:cNvSpPr/>
          <p:nvPr/>
        </p:nvSpPr>
        <p:spPr>
          <a:xfrm>
            <a:off x="457200" y="3291840"/>
            <a:ext cx="2286000" cy="721995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 REPOSITORY</a:t>
            </a:r>
            <a:endParaRPr lang="en-US" sz="900" dirty="0"/>
          </a:p>
          <a:p>
            <a:pPr marL="0" indent="0" algn="l">
              <a:buNone/>
            </a:pPr>
            <a:r>
              <a:rPr lang="en-US" altLang="en-US" sz="900" dirty="0"/>
              <a:t>https://github.com/vtu-qiskit-fall-fest-2026/vtu-hc-nexora-0022</a:t>
            </a:r>
            <a:endParaRPr lang="en-US" altLang="en-US" sz="900" dirty="0"/>
          </a:p>
        </p:txBody>
      </p:sp>
      <p:sp>
        <p:nvSpPr>
          <p:cNvPr id="6" name="Field: DEMO VIDEO LINK"/>
          <p:cNvSpPr/>
          <p:nvPr/>
        </p:nvSpPr>
        <p:spPr>
          <a:xfrm>
            <a:off x="2834640" y="3291840"/>
            <a:ext cx="22860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B8BDEB"/>
            </a:solidFill>
          </a:ln>
        </p:spPr>
        <p:txBody>
          <a:bodyPr wrap="square" lIns="63500" tIns="114300" rIns="114300" bIns="38100" rtlCol="0" anchor="t"/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5B3BA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DEMO VIDEO LINK</a:t>
            </a:r>
            <a:endParaRPr lang="en-US" sz="900" dirty="0"/>
          </a:p>
          <a:p>
            <a:pPr marL="0" indent="0" algn="l">
              <a:buNone/>
            </a:pPr>
            <a:r>
              <a:rPr lang="en-US" altLang="en-US" sz="900" dirty="0"/>
              <a:t>https://youtu.be/7Qv1oBpaJqU</a:t>
            </a:r>
            <a:endParaRPr lang="en-US" altLang="en-US" sz="900" dirty="0"/>
          </a:p>
        </p:txBody>
      </p:sp>
      <p:pic>
        <p:nvPicPr>
          <p:cNvPr id="7" name="Bloch sphere ring" descr="sphe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  <p:pic>
        <p:nvPicPr>
          <p:cNvPr id="8" name="Image 1" descr="bi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914400"/>
            <a:ext cx="822960" cy="493776"/>
          </a:xfrm>
          <a:prstGeom prst="rect">
            <a:avLst/>
          </a:prstGeom>
        </p:spPr>
      </p:pic>
      <p:pic>
        <p:nvPicPr>
          <p:cNvPr id="9" name="Image 2" descr="bi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548640" cy="329184"/>
          </a:xfrm>
          <a:prstGeom prst="rect">
            <a:avLst/>
          </a:prstGeom>
        </p:spPr>
      </p:pic>
      <p:pic>
        <p:nvPicPr>
          <p:cNvPr id="10" name="Image 3" descr="bir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4023360"/>
            <a:ext cx="457200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Qiskit Fall Fest">
  <a:themeElements>
    <a:clrScheme name="Qiskit Fall Fest">
      <a:dk1>
        <a:srgbClr val="2E1B5B"/>
      </a:dk1>
      <a:lt1>
        <a:srgbClr val="FFFFFF"/>
      </a:lt1>
      <a:dk2>
        <a:srgbClr val="4B2BA8"/>
      </a:dk2>
      <a:lt2>
        <a:srgbClr val="DDE2FC"/>
      </a:lt2>
      <a:accent1>
        <a:srgbClr val="E0558F"/>
      </a:accent1>
      <a:accent2>
        <a:srgbClr val="6B3FD4"/>
      </a:accent2>
      <a:accent3>
        <a:srgbClr val="F5C33B"/>
      </a:accent3>
      <a:accent4>
        <a:srgbClr val="3B82F6"/>
      </a:accent4>
      <a:accent5>
        <a:srgbClr val="7B58B8"/>
      </a:accent5>
      <a:accent6>
        <a:srgbClr val="2BB5A0"/>
      </a:accent6>
      <a:hlink>
        <a:srgbClr val="6B3FD4"/>
      </a:hlink>
      <a:folHlink>
        <a:srgbClr val="4B2BA8"/>
      </a:folHlink>
    </a:clrScheme>
    <a:fontScheme name="Qiskit Fall Fest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4993</Words>
  <Application>WPS Presentation</Application>
  <PresentationFormat/>
  <Paragraphs>222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SimSun</vt:lpstr>
      <vt:lpstr>Wingdings</vt:lpstr>
      <vt:lpstr>Nirmala UI</vt:lpstr>
      <vt:lpstr>Nirmala UI</vt:lpstr>
      <vt:lpstr>Nirmala UI</vt:lpstr>
      <vt:lpstr>Calibri</vt:lpstr>
      <vt:lpstr>Calibri</vt:lpstr>
      <vt:lpstr>Calibri</vt:lpstr>
      <vt:lpstr>Georgia</vt:lpstr>
      <vt:lpstr>Georgia</vt:lpstr>
      <vt:lpstr>Georgia</vt:lpstr>
      <vt:lpstr>Calibri</vt:lpstr>
      <vt:lpstr>Microsoft YaHei</vt:lpstr>
      <vt:lpstr>Arial Unicode MS</vt:lpstr>
      <vt:lpstr>Aptos</vt:lpstr>
      <vt:lpstr>Segoe UI</vt:lpstr>
      <vt:lpstr>Qiskit Fall Fest</vt:lpstr>
      <vt:lpstr>PowerPoint 演示文稿</vt:lpstr>
      <vt:lpstr>Problem Statement</vt:lpstr>
      <vt:lpstr>Objectives &amp; Novelty</vt:lpstr>
      <vt:lpstr>Solution &amp; Quantum Advantage</vt:lpstr>
      <vt:lpstr>Algorithm &amp; Circuit Design</vt:lpstr>
      <vt:lpstr>Implementation &amp; Tech Stack</vt:lpstr>
      <vt:lpstr>Results &amp; Analysis</vt:lpstr>
      <vt:lpstr>Impact &amp; Real-World Applications</vt:lpstr>
      <vt:lpstr>Challenges &amp; Future Scope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Iqra</cp:lastModifiedBy>
  <cp:revision>4</cp:revision>
  <dcterms:created xsi:type="dcterms:W3CDTF">2026-10-23T09:24:25Z</dcterms:created>
  <dcterms:modified xsi:type="dcterms:W3CDTF">2026-10-23T11:18:24Z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1033-12.1.0.29162</vt:lpwstr>
  </property>
  <property fmtid="{D5CDD505-2E9C-101B-9397-08002B2CF9AE}" pid="3" name="ICV">
    <vt:lpwstr>4B7422174E434657872566D26573963E_13</vt:lpwstr>
  </property>
</Properties>
</file>