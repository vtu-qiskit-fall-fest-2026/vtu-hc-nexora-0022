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100" b="1">
                <a:solidFill>
                  <a:srgbClr val="2E1B5B"/>
                </a:solidFill>
                <a:latin typeface="Calibri" panose="020F0502020204030204"/>
              </a:rPr>
              <a:t>Exposure covered (7 units)</a:t>
            </a:r>
            <a:endParaRPr sz="1100" b="1">
              <a:solidFill>
                <a:srgbClr val="2E1B5B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Exposure covered (7 units)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5B3BA8"/>
              </a:solidFill>
            </c:spPr>
          </c:dPt>
          <c:dPt>
            <c:idx val="1"/>
            <c:invertIfNegative val="0"/>
            <c:bubble3D val="0"/>
            <c:spPr>
              <a:solidFill>
                <a:srgbClr val="E8639F"/>
              </a:solidFill>
            </c:spPr>
          </c:dPt>
          <c:dPt>
            <c:idx val="2"/>
            <c:invertIfNegative val="0"/>
            <c:bubble3D val="0"/>
            <c:spPr>
              <a:solidFill>
                <a:srgbClr val="B8BDEB"/>
              </a:solidFill>
            </c:spPr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2E1B5B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Exact</c:v>
                </c:pt>
                <c:pt idx="1">
                  <c:v>QAOA</c:v>
                </c:pt>
                <c:pt idx="2">
                  <c:v>Greedy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58</c:v>
                </c:pt>
                <c:pt idx="2">
                  <c:v>55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 cap="flat" cmpd="sng" algn="ctr">
            <a:solidFill>
              <a:srgbClr val="B8BDE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51f498f-21e9-43ae-a8fe-d337f1671cd3}"/>
      </c:ext>
    </c:extLst>
  </c:chart>
  <c:txPr>
    <a:bodyPr/>
    <a:lstStyle/>
    <a:p>
      <a:pPr>
        <a:defRPr lang="en-US" sz="1000">
          <a:solidFill>
            <a:srgbClr val="2E1B5B"/>
          </a:solidFill>
          <a:latin typeface="Calibri" panose="020F0502020204030204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100" b="1">
                <a:solidFill>
                  <a:srgbClr val="2E1B5B"/>
                </a:solidFill>
                <a:latin typeface="Calibri" panose="020F0502020204030204"/>
              </a:rPr>
              <a:t>Optimum found per shot</a:t>
            </a:r>
            <a:endParaRPr sz="1100" b="1">
              <a:solidFill>
                <a:srgbClr val="2E1B5B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Optimum found per shot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B8BDEB"/>
              </a:solidFill>
            </c:spPr>
          </c:dPt>
          <c:dPt>
            <c:idx val="1"/>
            <c:invertIfNegative val="0"/>
            <c:bubble3D val="0"/>
            <c:spPr>
              <a:solidFill>
                <a:srgbClr val="E8639F"/>
              </a:solidFill>
            </c:spPr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2E1B5B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Random</c:v>
                </c:pt>
                <c:pt idx="1">
                  <c:v>QAOA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0.016</c:v>
                </c:pt>
                <c:pt idx="1">
                  <c:v>0.049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 cap="flat" cmpd="sng" algn="ctr">
            <a:solidFill>
              <a:srgbClr val="B8BDE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06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c4fc143a-39b1-4b2f-9f26-655889f9ac2e}"/>
      </c:ext>
    </c:extLst>
  </c:chart>
  <c:txPr>
    <a:bodyPr/>
    <a:lstStyle/>
    <a:p>
      <a:pPr>
        <a:defRPr lang="en-US" sz="1000">
          <a:solidFill>
            <a:srgbClr val="2E1B5B"/>
          </a:solidFill>
          <a:latin typeface="Calibri" panose="020F0502020204030204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251460" y="1131570"/>
            <a:ext cx="338328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lang="en-US" sz="13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HEATSHIELD-Q: Quantum Allocation of Campus Cooling Resources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lang="en-US" sz="11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6: Climate &amp; Sustainability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NEXORA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Niranjan Mathapati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27605"/>
            <a:ext cx="2286000" cy="61214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</a:pPr>
            <a:r>
              <a:rPr lang="en-US" sz="11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niranjanrm18@gmail.com/ 7204579919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Niranjan Mathapati (Lead)  ·  Iqra Sanadi  ·  Manyata Tegnale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3030"/>
            <a:ext cx="2286000" cy="60515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/>
              <a:t>KLE TECHNOLOGICAL UNIVERITY, Belagavi Campus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</a:t>
            </a:r>
            <a:endParaRPr lang="en-US" sz="900" dirty="0"/>
          </a:p>
        </p:txBody>
      </p:sp>
      <p:sp>
        <p:nvSpPr>
          <p:cNvPr id="18" name="Text 1"/>
          <p:cNvSpPr txBox="1"/>
          <p:nvPr/>
        </p:nvSpPr>
        <p:spPr>
          <a:xfrm>
            <a:off x="4427855" y="5087620"/>
            <a:ext cx="338328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1520" y="1874519"/>
            <a:ext cx="45720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The challenge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Climate change is increasing the risk of extreme heat events on campuses.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Heat-relief resources (cooling units, shaded or air-conditioned spaces) are limited, so not every zone can be protected.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8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Zones differ in population, heat-risk level and the resources they need, so the best allocation is not obvious.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Our aim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HEATSHIELD-Q: a Qiskit-based quantum optimization system that allocates limited cooling resources across campus zones.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It uses QAOA to search for allocations and compares them with classical optimization.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23560" y="1920240"/>
            <a:ext cx="2834640" cy="7772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20116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B3BA8"/>
                </a:solidFill>
                <a:latin typeface="Calibri" panose="020F0502020204030204"/>
              </a:rPr>
              <a:t>INPUTS</a:t>
            </a:r>
            <a:endParaRPr sz="900" b="1">
              <a:solidFill>
                <a:srgbClr val="5B3BA8"/>
              </a:solidFill>
              <a:latin typeface="Calibri" panose="020F0502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Population, heat-risk level and cooling units needed per zone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623560" y="2788920"/>
            <a:ext cx="2834640" cy="7772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28803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E8639F"/>
                </a:solidFill>
                <a:latin typeface="Calibri" panose="020F0502020204030204"/>
              </a:rPr>
              <a:t>CONSTRAINT</a:t>
            </a:r>
            <a:endParaRPr sz="900" b="1">
              <a:solidFill>
                <a:srgbClr val="E8639F"/>
              </a:solidFill>
              <a:latin typeface="Calibri" panose="020F0502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A fixed budget of cooling units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623560" y="3657600"/>
            <a:ext cx="2834640" cy="7772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3749039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2E1B5B"/>
                </a:solidFill>
                <a:latin typeface="Calibri" panose="020F0502020204030204"/>
              </a:rPr>
              <a:t>GOAL</a:t>
            </a:r>
            <a:endParaRPr sz="900" b="1">
              <a:solidFill>
                <a:srgbClr val="2E1B5B"/>
              </a:solidFill>
              <a:latin typeface="Calibri" panose="020F0502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Maximise heat-risk exposure covered (population × risk)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85800" y="192024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2029968"/>
            <a:ext cx="333756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Objectives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Model campus cooling allocation as a binary optimization problem, one qubit per zone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Build a QAOA solver in Qiskit that finds high-quality allocations under a unit budget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Benchmark QAOA against exact search and a greedy method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Test how results change from 4 to 12 zones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617720" y="192024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2029968"/>
            <a:ext cx="333756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39F"/>
                </a:solidFill>
                <a:latin typeface="Calibri" panose="020F0502020204030204"/>
              </a:rPr>
              <a:t>Novelty</a:t>
            </a:r>
            <a:endParaRPr sz="1300" b="1">
              <a:solidFill>
                <a:srgbClr val="E8639F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Applies QAOA to campus heat-risk planning, a sustainability problem rarely tackled with quantum methods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Budget handled by an unbalanced penalty term, so no extra slack qubits are needed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Penalty weights are tuned automatically so the lowest-energy state is the true best allocation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Honest benchmarking: we report where QAOA helps and where it does not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Pentagon 25"/>
          <p:cNvSpPr/>
          <p:nvPr/>
        </p:nvSpPr>
        <p:spPr>
          <a:xfrm>
            <a:off x="685800" y="1920240"/>
            <a:ext cx="1554480" cy="658368"/>
          </a:xfrm>
          <a:prstGeom prst="homePlate">
            <a:avLst>
              <a:gd name="adj" fmla="val 25000"/>
            </a:avLst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13716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Campus zones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 panose="020F0502020204030204"/>
              </a:rPr>
              <a:t>(population, risk, units)</a:t>
            </a:r>
            <a:endParaRPr sz="10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Chevron 26"/>
          <p:cNvSpPr/>
          <p:nvPr/>
        </p:nvSpPr>
        <p:spPr>
          <a:xfrm>
            <a:off x="2258568" y="1920240"/>
            <a:ext cx="1554480" cy="658368"/>
          </a:xfrm>
          <a:prstGeom prst="chevron">
            <a:avLst>
              <a:gd name="adj" fmla="val 25000"/>
            </a:avLst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3716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QUBO with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 panose="020F0502020204030204"/>
              </a:rPr>
              <a:t>budget penalty</a:t>
            </a:r>
            <a:endParaRPr sz="10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Chevron 27"/>
          <p:cNvSpPr/>
          <p:nvPr/>
        </p:nvSpPr>
        <p:spPr>
          <a:xfrm>
            <a:off x="3831335" y="1920240"/>
            <a:ext cx="1554480" cy="658368"/>
          </a:xfrm>
          <a:prstGeom prst="chevron">
            <a:avLst>
              <a:gd name="adj" fmla="val 25000"/>
            </a:avLst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3716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Ising Hamiltonian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 panose="020F0502020204030204"/>
              </a:rPr>
              <a:t>(6 qubits)</a:t>
            </a:r>
            <a:endParaRPr sz="10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9" name="Chevron 28"/>
          <p:cNvSpPr/>
          <p:nvPr/>
        </p:nvSpPr>
        <p:spPr>
          <a:xfrm>
            <a:off x="5404104" y="1920240"/>
            <a:ext cx="1554480" cy="658368"/>
          </a:xfrm>
          <a:prstGeom prst="chevron">
            <a:avLst>
              <a:gd name="adj" fmla="val 25000"/>
            </a:avLst>
          </a:prstGeom>
          <a:solidFill>
            <a:srgbClr val="E86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3716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QAOA circuit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 panose="020F0502020204030204"/>
              </a:rPr>
              <a:t>(Qiskit)</a:t>
            </a:r>
            <a:endParaRPr sz="10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6976872" y="1920240"/>
            <a:ext cx="1554480" cy="658368"/>
          </a:xfrm>
          <a:prstGeom prst="chevron">
            <a:avLst>
              <a:gd name="adj" fmla="val 25000"/>
            </a:avLst>
          </a:prstGeom>
          <a:solidFill>
            <a:srgbClr val="2E1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3716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Best allocation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 panose="020F0502020204030204"/>
              </a:rPr>
              <a:t>(top measured)</a:t>
            </a:r>
            <a:endParaRPr sz="10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2788920"/>
            <a:ext cx="3749039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How it works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Each qubit says whether a zone is funded (1) or not (0).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The cost rewards covered exposure and penalises going over the unit budget.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QAOA samples candidate allocations; the best-measured one is the answer.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663440" y="2788920"/>
            <a:ext cx="3794760" cy="173736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2880360"/>
            <a:ext cx="342900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39F"/>
                </a:solidFill>
                <a:latin typeface="Calibri" panose="020F0502020204030204"/>
              </a:rPr>
              <a:t>Quantum advantage: our honest view</a:t>
            </a:r>
            <a:endParaRPr sz="1300" b="1">
              <a:solidFill>
                <a:srgbClr val="E8639F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At 6 to 12 zones, brute force is instant, so we claim no speed-up.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QAOA finds the optimum more often than random guessing (up to 3.5× per shot).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The method is a full pipeline that can be scaled to larger campuses and real hardware.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pic>
        <p:nvPicPr>
          <p:cNvPr id="26" name="QAOA circuit diagram" descr="cir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915" y="1792224"/>
            <a:ext cx="4040330" cy="23774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0080" y="42976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6F7399"/>
                </a:solidFill>
                <a:latin typeface="Calibri" panose="020F0502020204030204"/>
              </a:rPr>
              <a:t>Schematic: RZZ acts on every zone pair that has a cost term; shown for 4 of 6 qubits</a:t>
            </a:r>
            <a:endParaRPr sz="900" b="0" i="1">
              <a:solidFill>
                <a:srgbClr val="6F7399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60720" y="1874519"/>
            <a:ext cx="27432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Key details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Qubits: 6 (one per zone)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Start: Hadamard layer gives an equal superposition of all allocations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Cost layer: RZ and RZZ gates from the Ising Hamiltonian (QUBO + unbalanced budget penalty)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Mixer: RX rotations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Parameters γ and β are tuned by a classical optimizer; depth p layers (1 to 4 explored)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Measured with shots; the best-seen allocation is returned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85800" y="192024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3816" y="2039112"/>
            <a:ext cx="274320" cy="274320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8720" y="20574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Qiskit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2104" y="242316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QAOA circuit, simulation and sampling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19272" y="192024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47288" y="2039112"/>
            <a:ext cx="274320" cy="274320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822191" y="20574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heatshield/ package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465576" y="242316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Data, problem, classical baselines, Hamiltonian and QAOA modules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952744" y="192024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80759" y="2039112"/>
            <a:ext cx="274320" cy="274320"/>
          </a:xfrm>
          <a:prstGeom prst="ellipse">
            <a:avLst/>
          </a:prstGeom>
          <a:solidFill>
            <a:srgbClr val="E86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55664" y="20574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Streamlit app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99048" y="242316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Interactive demo; every number comes from Qiskit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85800" y="324612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3816" y="3364991"/>
            <a:ext cx="274320" cy="274320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88720" y="338327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run_hardware.py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32104" y="3749039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Noisy IBM-chip simulator run; ready for real IBM hardware with an API key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319272" y="324612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47288" y="3364991"/>
            <a:ext cx="274320" cy="274320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5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822191" y="338327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run_scaling.py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465576" y="3749039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Scaling study from 4 to 12 zones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952744" y="324612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080759" y="3364991"/>
            <a:ext cx="274320" cy="274320"/>
          </a:xfrm>
          <a:prstGeom prst="ellipse">
            <a:avLst/>
          </a:prstGeom>
          <a:solidFill>
            <a:srgbClr val="E86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6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455664" y="338327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Tests + web view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99048" y="3749039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5 unit tests (pass); browser visualisation in web/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graphicFrame>
        <p:nvGraphicFramePr>
          <p:cNvPr id="26" name="Chart: exposure covered"/>
          <p:cNvGraphicFramePr>
            <a:graphicFrameLocks noGrp="1"/>
          </p:cNvGraphicFramePr>
          <p:nvPr/>
        </p:nvGraphicFramePr>
        <p:xfrm>
          <a:off x="548640" y="1783080"/>
          <a:ext cx="24688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7" name="Chart: per-shot success"/>
          <p:cNvGraphicFramePr>
            <a:graphicFrameLocks noGrp="1"/>
          </p:cNvGraphicFramePr>
          <p:nvPr/>
        </p:nvGraphicFramePr>
        <p:xfrm>
          <a:off x="3017520" y="1783080"/>
          <a:ext cx="237744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760720" y="1874519"/>
            <a:ext cx="27432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Key details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QAOA matches the exact optimum (58.0) and beats greedy (55.0) on the sample campus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Optimum measured in 4.9% of shots vs 1.6% for random guessing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1,024 shots are enough to find it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Scaling, 4 to 12 zones: 1.3 to 3.5× better than random; greedy stays within 2% of optimal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Noisy IBM-chip simulation also run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85800" y="1920240"/>
            <a:ext cx="2505456" cy="182880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2104" y="2057400"/>
            <a:ext cx="310896" cy="310896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52728" y="205740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1B5B"/>
                </a:solidFill>
                <a:latin typeface="Calibri" panose="020F0502020204030204"/>
              </a:rPr>
              <a:t>Safer campuses</a:t>
            </a:r>
            <a:endParaRPr sz="13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0392" y="25146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Directs scarce cooling resources to the zones where people and heat risk are highest.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19272" y="1920240"/>
            <a:ext cx="2505456" cy="182880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65576" y="2057400"/>
            <a:ext cx="310896" cy="310896"/>
          </a:xfrm>
          <a:prstGeom prst="ellipse">
            <a:avLst/>
          </a:prstGeom>
          <a:solidFill>
            <a:srgbClr val="E86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886200" y="205740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1B5B"/>
                </a:solidFill>
                <a:latin typeface="Calibri" panose="020F0502020204030204"/>
              </a:rPr>
              <a:t>Better planning</a:t>
            </a:r>
            <a:endParaRPr sz="13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483864" y="25146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Gives administrators a repeatable, data-driven way to compare allocation options before a heatwave.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952744" y="1920240"/>
            <a:ext cx="2505456" cy="182880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99048" y="2057400"/>
            <a:ext cx="310896" cy="310896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19672" y="205740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1B5B"/>
                </a:solidFill>
                <a:latin typeface="Calibri" panose="020F0502020204030204"/>
              </a:rPr>
              <a:t>Climate resilience</a:t>
            </a:r>
            <a:endParaRPr sz="13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17336" y="25146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Supports sustainability goals by using limited resources more effectively as heat events increase.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5800" y="39319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B3BA8"/>
                </a:solidFill>
                <a:latin typeface="Calibri" panose="020F0502020204030204"/>
              </a:rPr>
              <a:t>Where it applies: </a:t>
            </a: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university campuses, schools, hospitals and city wards with limited heat-relief resources. The same model extends to any "fund the highest-impact zones within a budget" problem.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85800" y="192024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2029968"/>
            <a:ext cx="333756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39F"/>
                </a:solidFill>
                <a:latin typeface="Calibri" panose="020F0502020204030204"/>
              </a:rPr>
              <a:t>Challenges</a:t>
            </a:r>
            <a:endParaRPr sz="1300" b="1">
              <a:solidFill>
                <a:srgbClr val="E8639F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Early QAOA runs found the optimum only about 1% of the time; tuning the penalty weights fixed this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No quantum speed-up at 6 to 12 zones, because classical search is instant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Results come from noise-free simulation; hardware noise will reduce quality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Sample zone data is illustrative, not measured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617720" y="192024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2029968"/>
            <a:ext cx="333756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Future scope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Run on real IBM Quantum hardware and apply error mitigation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Use real campus data: zone populations, shade and temperature readings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Scale to larger zone counts and compare more classical solvers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Add time-varying heat forecasts and multiple resource types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72199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REPOSITORY</a:t>
            </a:r>
            <a:endParaRPr lang="en-US" sz="900" dirty="0"/>
          </a:p>
          <a:p>
            <a:pPr marL="0" indent="0" algn="l">
              <a:buNone/>
            </a:pPr>
            <a:r>
              <a:rPr lang="en-US" altLang="en-US" sz="900" dirty="0"/>
              <a:t>https://github.com/vtu-qiskit-fall-fest-2026/vtu-hc-nexora-0022</a:t>
            </a:r>
            <a:endParaRPr lang="en-US" alt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VIDEO LINK</a:t>
            </a:r>
            <a:endParaRPr lang="en-US" sz="900" dirty="0"/>
          </a:p>
          <a:p>
            <a:pPr marL="0" indent="0" algn="l">
              <a:buNone/>
            </a:pPr>
            <a:r>
              <a:rPr lang="en-US" altLang="en-US" sz="900" dirty="0"/>
              <a:t>https://youtu.be/7Qv1oBpaJqU</a:t>
            </a:r>
            <a:endParaRPr lang="en-US" alt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5002</Words>
  <Application>WPS Presentation</Application>
  <PresentationFormat/>
  <Paragraphs>218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Nirmala UI</vt:lpstr>
      <vt:lpstr>Nirmala UI</vt:lpstr>
      <vt:lpstr>Nirmala UI</vt:lpstr>
      <vt:lpstr>Calibri</vt:lpstr>
      <vt:lpstr>Calibri</vt:lpstr>
      <vt:lpstr>Calibri</vt:lpstr>
      <vt:lpstr>Georgia</vt:lpstr>
      <vt:lpstr>Georgia</vt:lpstr>
      <vt:lpstr>Georgia</vt:lpstr>
      <vt:lpstr>Calibri</vt:lpstr>
      <vt:lpstr>Microsoft YaHei</vt:lpstr>
      <vt:lpstr>Arial Unicode MS</vt:lpstr>
      <vt:lpstr>Aptos</vt:lpstr>
      <vt:lpstr>Segoe UI</vt:lpstr>
      <vt:lpstr>Qiskit Fall Fest</vt:lpstr>
      <vt:lpstr>PowerPoint 演示文稿</vt:lpstr>
      <vt:lpstr>Problem Statement</vt:lpstr>
      <vt:lpstr>Objectives &amp; Novelty</vt:lpstr>
      <vt:lpstr>Solution &amp; Quantum Advantage</vt:lpstr>
      <vt:lpstr>Algorithm &amp; Circuit Design</vt:lpstr>
      <vt:lpstr>Implementation &amp; Tech Stack</vt:lpstr>
      <vt:lpstr>Results &amp; Analysis</vt:lpstr>
      <vt:lpstr>Impact &amp; Real-World Applications</vt:lpstr>
      <vt:lpstr>Challenges &amp; Future Scope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Iqra</cp:lastModifiedBy>
  <cp:revision>5</cp:revision>
  <dcterms:created xsi:type="dcterms:W3CDTF">2026-10-23T09:24:00Z</dcterms:created>
  <dcterms:modified xsi:type="dcterms:W3CDTF">2026-10-23T11:51:29Z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4B7422174E434657872566D26573963E_13</vt:lpwstr>
  </property>
</Properties>
</file>